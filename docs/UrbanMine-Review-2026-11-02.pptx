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43" autoAdjust="0"/>
    <p:restoredTop sz="94694" autoAdjust="0"/>
  </p:normalViewPr>
  <p:slideViewPr>
    <p:cSldViewPr snapToGrid="0" snapToObjects="1">
      <p:cViewPr varScale="1">
        <p:scale>
          <a:sx n="161" d="100"/>
          <a:sy n="161" d="100"/>
        </p:scale>
        <p:origin x="560" y="200"/>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AI-Powered Construction Material Recovery &amp; Marketplace</a:t>
            </a:r>
          </a:p>
        </p:txBody>
      </p:sp>
      <p:sp>
        <p:nvSpPr>
          <p:cNvPr id="3" name="Subtitle 2"/>
          <p:cNvSpPr>
            <a:spLocks noGrp="1"/>
          </p:cNvSpPr>
          <p:nvPr>
            <p:ph type="subTitle" idx="1"/>
          </p:nvPr>
        </p:nvSpPr>
        <p:spPr>
          <a:xfrm>
            <a:off x="1371600" y="2914650"/>
            <a:ext cx="6400800" cy="1314450"/>
          </a:xfrm>
        </p:spPr>
        <p:txBody>
          <a:bodyPr/>
          <a:lstStyle/>
          <a:p>
            <a:pPr lvl="0" indent="0" marL="0">
              <a:buNone/>
            </a:pPr>
            <a:r>
              <a:rPr/>
              <a:t>UrbanMine · SDG 12, Responsible Consumption and Production</a:t>
            </a:r>
          </a:p>
        </p:txBody>
      </p:sp>
      <p:sp>
        <p:nvSpPr>
          <p:cNvPr id="4" name="Date Placeholder 3"/>
          <p:cNvSpPr>
            <a:spLocks noGrp="1"/>
          </p:cNvSpPr>
          <p:nvPr>
            <p:ph type="dt" sz="half" idx="10"/>
          </p:nvPr>
        </p:nvSpPr>
        <p:spPr/>
        <p:txBody>
          <a:bodyPr/>
          <a:lstStyle/>
          <a:p>
            <a:pPr lvl="0" indent="0" marL="0">
              <a:buNone/>
            </a:pPr>
            <a:r>
              <a:rPr/>
              <a:t>Review 1 · 2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team</a:t>
            </a:r>
          </a:p>
        </p:txBody>
      </p:sp>
      <p:graphicFrame>
        <p:nvGraphicFramePr>
          <p:cNvPr id="6" name="Content Placeholder 5"/>
          <p:cNvGraphicFramePr>
            <a:graphicFrameLocks noGrp="1"/>
          </p:cNvGraphicFramePr>
          <p:nvPr>
            <p:ph idx="1"/>
          </p:nvPr>
        </p:nvGraphicFramePr>
        <p:xfrm>
          <a:off x="457200" y="1193800"/>
          <a:ext cx="8229600" cy="24130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Name</a:t>
                      </a:r>
                    </a:p>
                  </a:txBody>
                  <a:tcPr/>
                </a:tc>
                <a:tc>
                  <a:txBody>
                    <a:bodyPr/>
                    <a:lstStyle/>
                    <a:p>
                      <a:pPr lvl="0" indent="0" marL="0">
                        <a:buNone/>
                      </a:pPr>
                      <a:r>
                        <a:rPr/>
                        <a:t>ID</a:t>
                      </a:r>
                    </a:p>
                  </a:txBody>
                  <a:tcPr/>
                </a:tc>
              </a:tr>
              <a:tr h="0">
                <a:tc>
                  <a:txBody>
                    <a:bodyPr/>
                    <a:lstStyle/>
                    <a:p>
                      <a:pPr lvl="0" indent="0" marL="0">
                        <a:buNone/>
                      </a:pPr>
                      <a:r>
                        <a:rPr/>
                        <a:t>Aadhithya Prem</a:t>
                      </a:r>
                    </a:p>
                  </a:txBody>
                </a:tc>
                <a:tc>
                  <a:txBody>
                    <a:bodyPr/>
                    <a:lstStyle/>
                    <a:p>
                      <a:pPr lvl="0" indent="0" marL="0">
                        <a:buNone/>
                      </a:pPr>
                      <a:r>
                        <a:rPr/>
                        <a:t>1BF25CS002</a:t>
                      </a:r>
                    </a:p>
                  </a:txBody>
                </a:tc>
              </a:tr>
              <a:tr h="0">
                <a:tc>
                  <a:txBody>
                    <a:bodyPr/>
                    <a:lstStyle/>
                    <a:p>
                      <a:pPr lvl="0" indent="0" marL="0">
                        <a:buNone/>
                      </a:pPr>
                      <a:r>
                        <a:rPr/>
                        <a:t>A N Sheshanaga Kishan</a:t>
                      </a:r>
                    </a:p>
                  </a:txBody>
                </a:tc>
                <a:tc>
                  <a:txBody>
                    <a:bodyPr/>
                    <a:lstStyle/>
                    <a:p>
                      <a:pPr lvl="0" indent="0" marL="0">
                        <a:buNone/>
                      </a:pPr>
                      <a:r>
                        <a:rPr/>
                        <a:t>1BF25CS001</a:t>
                      </a:r>
                    </a:p>
                  </a:txBody>
                </a:tc>
              </a:tr>
              <a:tr h="0">
                <a:tc>
                  <a:txBody>
                    <a:bodyPr/>
                    <a:lstStyle/>
                    <a:p>
                      <a:pPr lvl="0" indent="0" marL="0">
                        <a:buNone/>
                      </a:pPr>
                      <a:r>
                        <a:rPr/>
                        <a:t>Arunavaya Singh</a:t>
                      </a:r>
                    </a:p>
                  </a:txBody>
                </a:tc>
                <a:tc>
                  <a:txBody>
                    <a:bodyPr/>
                    <a:lstStyle/>
                    <a:p>
                      <a:pPr lvl="0" indent="0" marL="0">
                        <a:buNone/>
                      </a:pPr>
                      <a:r>
                        <a:rPr/>
                        <a:t>1BF25CS047</a:t>
                      </a:r>
                    </a:p>
                  </a:txBody>
                </a:tc>
              </a:tr>
              <a:tr h="0">
                <a:tc>
                  <a:txBody>
                    <a:bodyPr/>
                    <a:lstStyle/>
                    <a:p>
                      <a:pPr lvl="0" indent="0" marL="0">
                        <a:buNone/>
                      </a:pPr>
                      <a:r>
                        <a:rPr/>
                        <a:t>Aaditya Sinha</a:t>
                      </a:r>
                    </a:p>
                  </a:txBody>
                </a:tc>
                <a:tc>
                  <a:txBody>
                    <a:bodyPr/>
                    <a:lstStyle/>
                    <a:p>
                      <a:pPr lvl="0" indent="0" marL="0">
                        <a:buNone/>
                      </a:pPr>
                      <a:r>
                        <a:rPr/>
                        <a:t>1BF25CS007</a:t>
                      </a:r>
                    </a:p>
                  </a:txBody>
                </a:tc>
              </a:tr>
              <a:tr h="0">
                <a:tc>
                  <a:txBody>
                    <a:bodyPr/>
                    <a:lstStyle/>
                    <a:p>
                      <a:pPr lvl="0" indent="0" marL="0">
                        <a:buNone/>
                      </a:pPr>
                      <a:r>
                        <a:rPr/>
                        <a:t>Aayush Ate</a:t>
                      </a:r>
                    </a:p>
                  </a:txBody>
                </a:tc>
                <a:tc>
                  <a:txBody>
                    <a:bodyPr/>
                    <a:lstStyle/>
                    <a:p>
                      <a:pPr lvl="0" indent="0" marL="0">
                        <a:buNone/>
                      </a:pPr>
                      <a:r>
                        <a:rPr/>
                        <a:t>1BF25CS010</a:t>
                      </a:r>
                    </a:p>
                  </a:txBody>
                </a:tc>
              </a:tr>
            </a:tbl>
          </a:graphicData>
        </a:graphic>
      </p:graphicFrame>
      <p:sp>
        <p:nvSpPr>
          <p:cNvPr id="3" name="Content Placeholder 2"/>
          <p:cNvSpPr>
            <a:spLocks noGrp="1"/>
          </p:cNvSpPr>
          <p:nvPr>
            <p:ph idx="1"/>
          </p:nvPr>
        </p:nvSpPr>
        <p:spPr>
          <a:xfrm>
            <a:off x="457200" y="3733800"/>
            <a:ext cx="8229600" cy="723900"/>
          </a:xfrm>
        </p:spPr>
        <p:txBody>
          <a:bodyPr/>
          <a:lstStyle/>
          <a:p>
            <a:pPr lvl="0" indent="0" marL="0">
              <a:buNone/>
            </a:pPr>
            <a:r>
              <a:rPr b="1"/>
              <a:t>Project:</a:t>
            </a:r>
            <a:r>
              <a:rPr/>
              <a:t> AI-Powered Construction Material Recovery &amp; Marketplace</a:t>
            </a:r>
            <a:br/>
            <a:r>
              <a:rPr b="1"/>
              <a:t>SDG:</a:t>
            </a:r>
            <a:r>
              <a:rPr/>
              <a:t> 12, Responsible Consumption and Production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it is</a:t>
            </a:r>
          </a:p>
        </p:txBody>
      </p:sp>
      <p:sp>
        <p:nvSpPr>
          <p:cNvPr id="3" name="Content Placeholder 2"/>
          <p:cNvSpPr>
            <a:spLocks noGrp="1"/>
          </p:cNvSpPr>
          <p:nvPr>
            <p:ph idx="1"/>
          </p:nvPr>
        </p:nvSpPr>
        <p:spPr/>
        <p:txBody>
          <a:bodyPr/>
          <a:lstStyle/>
          <a:p>
            <a:pPr lvl="0" indent="0" marL="0">
              <a:buNone/>
            </a:pPr>
            <a:r>
              <a:rPr/>
              <a:t>A contractor photographs a demolition site. The AI lists what is salvageable, with quantity, condition and price. One click publishes it. A buyer searches, gets match-scored, and sends a request.</a:t>
            </a:r>
          </a:p>
          <a:p>
            <a:pPr lvl="0" indent="0" marL="0">
              <a:buNone/>
            </a:pPr>
            <a:r>
              <a:rPr b="1"/>
              <a:t>Live:</a:t>
            </a:r>
            <a:r>
              <a:rPr/>
              <a:t> https://fullstackproject-app.vercel.app</a:t>
            </a:r>
          </a:p>
          <a:p>
            <a:pPr lvl="0" indent="0" marL="0">
              <a:buNone/>
            </a:pPr>
            <a:r>
              <a:rPr/>
              <a:t>React 18 · FastAPI · YOLO-World + YOLOv8n + CLIP · Neon Postgres · Cesium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Identification</a:t>
            </a:r>
          </a:p>
        </p:txBody>
      </p:sp>
      <p:sp>
        <p:nvSpPr>
          <p:cNvPr id="3" name="Content Placeholder 2"/>
          <p:cNvSpPr>
            <a:spLocks noGrp="1"/>
          </p:cNvSpPr>
          <p:nvPr>
            <p:ph idx="1"/>
          </p:nvPr>
        </p:nvSpPr>
        <p:spPr/>
        <p:txBody>
          <a:bodyPr/>
          <a:lstStyle/>
          <a:p>
            <a:pPr lvl="0" indent="0" marL="0">
              <a:buNone/>
            </a:pPr>
            <a:r>
              <a:rPr b="1"/>
              <a:t>Everything in a building that comes down was paid for once, and most of it goes to landfill.</a:t>
            </a:r>
          </a:p>
          <a:p>
            <a:pPr lvl="0"/>
            <a:r>
              <a:rPr/>
              <a:t>Buyers pay new-material prices for material that could be salvaged for a fraction of that</a:t>
            </a:r>
          </a:p>
          <a:p>
            <a:pPr lvl="0"/>
            <a:r>
              <a:rPr/>
              <a:t>Contractors have no fast way to catalogue what is on site, because measuring, photographing and pricing each pile takes longer than skipping it</a:t>
            </a:r>
          </a:p>
          <a:p>
            <a:pPr lvl="0"/>
            <a:r>
              <a:rPr/>
              <a:t>Salvaged material is never listed anywhere, so a buyer cannot search for it</a:t>
            </a:r>
          </a:p>
          <a:p>
            <a:pPr lvl="0" indent="0" marL="0">
              <a:buNone/>
            </a:pPr>
            <a:r>
              <a:rPr/>
              <a:t>The constraint that shapes the product: cataloguing has to cost one photo, not an afternoon.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SDG 12</a:t>
            </a:r>
          </a:p>
        </p:txBody>
      </p:sp>
      <p:sp>
        <p:nvSpPr>
          <p:cNvPr id="3" name="Content Placeholder 2"/>
          <p:cNvSpPr>
            <a:spLocks noGrp="1"/>
          </p:cNvSpPr>
          <p:nvPr>
            <p:ph idx="1"/>
          </p:nvPr>
        </p:nvSpPr>
        <p:spPr/>
        <p:txBody>
          <a:bodyPr/>
          <a:lstStyle/>
          <a:p>
            <a:pPr lvl="0" indent="0" marL="0">
              <a:buNone/>
            </a:pPr>
            <a:r>
              <a:rPr b="1"/>
              <a:t>Goal 12: Responsible Consumption and Production.</a:t>
            </a:r>
            <a:r>
              <a:rPr/>
              <a:t> Two targets carry this project.</a:t>
            </a:r>
          </a:p>
          <a:p>
            <a:pPr lvl="0" indent="0" marL="0">
              <a:buNone/>
            </a:pPr>
            <a:r>
              <a:rPr b="1"/>
              <a:t>12.2</a:t>
            </a:r>
            <a:r>
              <a:rPr/>
              <a:t>: By 2030, achieve the sustainable management and efficient use of natural resources.</a:t>
            </a:r>
          </a:p>
          <a:p>
            <a:pPr lvl="0" indent="0" marL="0">
              <a:buNone/>
            </a:pPr>
            <a:r>
              <a:rPr b="1"/>
              <a:t>12.5</a:t>
            </a:r>
            <a:r>
              <a:rPr/>
              <a:t>: By 2030, substantially reduce waste generation through prevention, reduction, recycling and reuse.</a:t>
            </a:r>
          </a:p>
          <a:p>
            <a:pPr lvl="0" indent="0" marL="0">
              <a:buNone/>
            </a:pPr>
            <a:r>
              <a:rPr/>
              <a:t>A building’s timber, bricks and metal are resources that have already been extracted. Sending them to landfill means extracting again for the next build, and the reuse never happens because nobody wrote the stock down.</a:t>
            </a:r>
          </a:p>
          <a:p>
            <a:pPr lvl="0" indent="0" marL="0">
              <a:buNone/>
            </a:pPr>
            <a:r>
              <a:rPr b="1"/>
              <a:t>What the build does about it</a:t>
            </a:r>
          </a:p>
          <a:p>
            <a:pPr lvl="0"/>
            <a:r>
              <a:rPr/>
              <a:t>One photo replaces the survey that normally ends in “leave it”, so salvage gets listed instead of skipped</a:t>
            </a:r>
          </a:p>
          <a:p>
            <a:pPr lvl="0"/>
            <a:r>
              <a:rPr/>
              <a:t>Distance is part of the match score, so material travels 20 km rather than 200</a:t>
            </a:r>
          </a:p>
          <a:p>
            <a:pPr lvl="0"/>
            <a:r>
              <a:rPr/>
              <a:t>The Impact tab totals material diverted and value recovered, which is the number this goal asks for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Identification: scope</a:t>
            </a:r>
          </a:p>
        </p:txBody>
      </p:sp>
      <p:sp>
        <p:nvSpPr>
          <p:cNvPr id="3" name="Content Placeholder 2"/>
          <p:cNvSpPr>
            <a:spLocks noGrp="1"/>
          </p:cNvSpPr>
          <p:nvPr>
            <p:ph idx="1"/>
          </p:nvPr>
        </p:nvSpPr>
        <p:spPr>
          <a:xfrm>
            <a:off x="457200" y="1193800"/>
            <a:ext cx="8229600" cy="546100"/>
          </a:xfrm>
        </p:spPr>
        <p:txBody>
          <a:bodyPr/>
          <a:lstStyle/>
          <a:p>
            <a:pPr lvl="0" indent="0" marL="0">
              <a:buNone/>
            </a:pPr>
            <a:r>
              <a:rPr b="1"/>
              <a:t>Users</a:t>
            </a:r>
          </a:p>
        </p:txBody>
      </p:sp>
      <p:graphicFrame>
        <p:nvGraphicFramePr>
          <p:cNvPr id="6" name="Content Placeholder 5"/>
          <p:cNvGraphicFramePr>
            <a:graphicFrameLocks noGrp="1"/>
          </p:cNvGraphicFramePr>
          <p:nvPr>
            <p:ph idx="1"/>
          </p:nvPr>
        </p:nvGraphicFramePr>
        <p:xfrm>
          <a:off x="457200" y="1866900"/>
          <a:ext cx="8229600" cy="1231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User</a:t>
                      </a:r>
                    </a:p>
                  </a:txBody>
                  <a:tcPr/>
                </a:tc>
                <a:tc>
                  <a:txBody>
                    <a:bodyPr/>
                    <a:lstStyle/>
                    <a:p>
                      <a:pPr lvl="0" indent="0" marL="0">
                        <a:buNone/>
                      </a:pPr>
                      <a:r>
                        <a:rPr/>
                        <a:t>Goal</a:t>
                      </a:r>
                    </a:p>
                  </a:txBody>
                  <a:tcPr/>
                </a:tc>
              </a:tr>
              <a:tr h="0">
                <a:tc>
                  <a:txBody>
                    <a:bodyPr/>
                    <a:lstStyle/>
                    <a:p>
                      <a:pPr lvl="0" indent="0" marL="0">
                        <a:buNone/>
                      </a:pPr>
                      <a:r>
                        <a:rPr/>
                        <a:t>Demolition contractor</a:t>
                      </a:r>
                    </a:p>
                  </a:txBody>
                </a:tc>
                <a:tc>
                  <a:txBody>
                    <a:bodyPr/>
                    <a:lstStyle/>
                    <a:p>
                      <a:pPr lvl="0" indent="0" marL="0">
                        <a:buNone/>
                      </a:pPr>
                      <a:r>
                        <a:rPr/>
                        <a:t>Photograph, confirm, published in under a minute</a:t>
                      </a:r>
                    </a:p>
                  </a:txBody>
                </a:tc>
              </a:tr>
              <a:tr h="0">
                <a:tc>
                  <a:txBody>
                    <a:bodyPr/>
                    <a:lstStyle/>
                    <a:p>
                      <a:pPr lvl="0" indent="0" marL="0">
                        <a:buNone/>
                      </a:pPr>
                      <a:r>
                        <a:rPr/>
                        <a:t>Architect / interior designer</a:t>
                      </a:r>
                    </a:p>
                  </a:txBody>
                </a:tc>
                <a:tc>
                  <a:txBody>
                    <a:bodyPr/>
                    <a:lstStyle/>
                    <a:p>
                      <a:pPr lvl="0" indent="0" marL="0">
                        <a:buNone/>
                      </a:pPr>
                      <a:r>
                        <a:rPr/>
                        <a:t>Find reclaimed doors, windows, tiles and marble near the site</a:t>
                      </a:r>
                    </a:p>
                  </a:txBody>
                </a:tc>
              </a:tr>
              <a:tr h="0">
                <a:tc>
                  <a:txBody>
                    <a:bodyPr/>
                    <a:lstStyle/>
                    <a:p>
                      <a:pPr lvl="0" indent="0" marL="0">
                        <a:buNone/>
                      </a:pPr>
                      <a:r>
                        <a:rPr/>
                        <a:t>Scrap dealer</a:t>
                      </a:r>
                    </a:p>
                  </a:txBody>
                </a:tc>
                <a:tc>
                  <a:txBody>
                    <a:bodyPr/>
                    <a:lstStyle/>
                    <a:p>
                      <a:pPr lvl="0" indent="0" marL="0">
                        <a:buNone/>
                      </a:pPr>
                      <a:r>
                        <a:rPr/>
                        <a:t>Find bulk metal, rebar and copper by weight and distance</a:t>
                      </a:r>
                    </a:p>
                  </a:txBody>
                </a:tc>
              </a:tr>
            </a:tbl>
          </a:graphicData>
        </a:graphic>
      </p:graphicFrame>
      <p:sp>
        <p:nvSpPr>
          <p:cNvPr id="3" name="Content Placeholder 2"/>
          <p:cNvSpPr>
            <a:spLocks noGrp="1"/>
          </p:cNvSpPr>
          <p:nvPr>
            <p:ph idx="1"/>
          </p:nvPr>
        </p:nvSpPr>
        <p:spPr>
          <a:xfrm>
            <a:off x="457200" y="3225800"/>
            <a:ext cx="8229600" cy="1231900"/>
          </a:xfrm>
        </p:spPr>
        <p:txBody>
          <a:bodyPr/>
          <a:lstStyle/>
          <a:p>
            <a:pPr lvl="0" indent="0" marL="0">
              <a:buNone/>
            </a:pPr>
            <a:r>
              <a:rPr b="1"/>
              <a:t>In this review’s build:</a:t>
            </a:r>
            <a:r>
              <a:rPr/>
              <a:t> photo AI, listings, smart match, requests, impact, location picker, satellite maps, mobile shell, deployed demo.</a:t>
            </a:r>
          </a:p>
          <a:p>
            <a:pPr lvl="0" indent="0" marL="0">
              <a:buNone/>
            </a:pPr>
            <a:r>
              <a:rPr b="1"/>
              <a:t>Left out deliberately:</a:t>
            </a:r>
            <a:r>
              <a:rPr/>
              <a:t> payments, accounts, chat, logistics, multi-city, admin.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 Design: architecture</a:t>
            </a:r>
          </a:p>
        </p:txBody>
      </p:sp>
      <p:sp>
        <p:nvSpPr>
          <p:cNvPr id="3" name="Content Placeholder 2"/>
          <p:cNvSpPr>
            <a:spLocks noGrp="1"/>
          </p:cNvSpPr>
          <p:nvPr>
            <p:ph idx="1"/>
          </p:nvPr>
        </p:nvSpPr>
        <p:spPr/>
        <p:txBody>
          <a:bodyPr/>
          <a:lstStyle/>
          <a:p>
            <a:pPr lvl="0" indent="0" marL="0">
              <a:buNone/>
            </a:pPr>
            <a:r>
              <a:rPr b="1"/>
              <a:t>Three parts behind one URL.</a:t>
            </a:r>
          </a:p>
          <a:p>
            <a:pPr lvl="0" indent="0">
              <a:buNone/>
            </a:pPr>
            <a:r>
              <a:rPr>
                <a:latin typeface="Courier"/>
              </a:rPr>
              <a:t>Browser (React + Vite)
   │  fetch /api/* and /uploads/*
   ▼
Vercel frontend rewrite ───► FastAPI container (Vercel)
   same origin, no CORS           │
                                  ├─ AI: YOLO-World, YOLOv8n, colour, CLIP
                                  └─ Neon Postgres, JSON file fallback</a:t>
            </a:r>
          </a:p>
          <a:p>
            <a:pPr lvl="0" indent="0" marL="0">
              <a:buNone/>
            </a:pPr>
            <a:r>
              <a:rPr/>
              <a:t>The frontend’s </a:t>
            </a:r>
            <a:r>
              <a:rPr>
                <a:latin typeface="Courier"/>
              </a:rPr>
              <a:t>vercel.json</a:t>
            </a:r>
            <a:r>
              <a:rPr/>
              <a:t> rewrites </a:t>
            </a:r>
            <a:r>
              <a:rPr>
                <a:latin typeface="Courier"/>
              </a:rPr>
              <a:t>/api</a:t>
            </a:r>
            <a:r>
              <a:rPr/>
              <a:t> and </a:t>
            </a:r>
            <a:r>
              <a:rPr>
                <a:latin typeface="Courier"/>
              </a:rPr>
              <a:t>/uploads</a:t>
            </a:r>
            <a:r>
              <a:rPr/>
              <a:t> to the backend alias, so the browser only ever talks to one origin and CORS never appears.</a:t>
            </a:r>
          </a:p>
          <a:p>
            <a:pPr lvl="0" indent="0" marL="0">
              <a:buNone/>
            </a:pPr>
            <a:r>
              <a:rPr/>
              <a:t>The backend ships as a container because torch, ultralytics and transformers will not fit a normal serverless function.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 Design: data flow</a:t>
            </a:r>
          </a:p>
        </p:txBody>
      </p:sp>
      <p:sp>
        <p:nvSpPr>
          <p:cNvPr id="3" name="Content Placeholder 2"/>
          <p:cNvSpPr>
            <a:spLocks noGrp="1"/>
          </p:cNvSpPr>
          <p:nvPr>
            <p:ph idx="1"/>
          </p:nvPr>
        </p:nvSpPr>
        <p:spPr/>
        <p:txBody>
          <a:bodyPr/>
          <a:lstStyle/>
          <a:p>
            <a:pPr lvl="0" indent="0" marL="0">
              <a:buNone/>
            </a:pPr>
            <a:r>
              <a:rPr b="1"/>
              <a:t>Upload to listing</a:t>
            </a:r>
          </a:p>
          <a:p>
            <a:pPr lvl="0" indent="0">
              <a:buNone/>
            </a:pPr>
            <a:r>
              <a:rPr>
                <a:latin typeface="Courier"/>
              </a:rPr>
              <a:t>photo → EXIF or device GPS → shrink to 1600px → analyse → edit → confirm → listing</a:t>
            </a:r>
          </a:p>
          <a:p>
            <a:pPr lvl="0" indent="0" marL="0">
              <a:buNone/>
            </a:pPr>
            <a:r>
              <a:rPr b="1"/>
              <a:t>Buyer flow</a:t>
            </a:r>
          </a:p>
          <a:p>
            <a:pPr lvl="0" indent="0">
              <a:buNone/>
            </a:pPr>
            <a:r>
              <a:rPr>
                <a:latin typeface="Courier"/>
              </a:rPr>
              <a:t>material + quantity + point + condition + radius → ranking → request → accept/decline</a:t>
            </a:r>
          </a:p>
          <a:p>
            <a:pPr lvl="0"/>
            <a:r>
              <a:rPr/>
              <a:t>Postgres holds listings as one JSONB row and photo bytes as their own rows, so both survive a container restart</a:t>
            </a:r>
          </a:p>
          <a:p>
            <a:pPr lvl="0"/>
            <a:r>
              <a:rPr/>
              <a:t>The disk copy is a cache; serving a photo tries disk first, then the database</a:t>
            </a:r>
          </a:p>
          <a:p>
            <a:pPr lvl="0"/>
            <a:r>
              <a:rPr/>
              <a:t>Distance is haversine in Python, which agrees with </a:t>
            </a:r>
            <a:r>
              <a:rPr>
                <a:latin typeface="Courier"/>
              </a:rPr>
              <a:t>ST_Distance(geography)/1000</a:t>
            </a:r>
            <a:r>
              <a:rPr/>
              <a:t>, so rankings would survive a move to PostGIS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 Analysis: why these choices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Chosen</a:t>
                      </a:r>
                    </a:p>
                  </a:txBody>
                  <a:tcPr/>
                </a:tc>
                <a:tc>
                  <a:txBody>
                    <a:bodyPr/>
                    <a:lstStyle/>
                    <a:p>
                      <a:pPr lvl="0" indent="0" marL="0">
                        <a:buNone/>
                      </a:pPr>
                      <a:r>
                        <a:rPr/>
                        <a:t>Instead of</a:t>
                      </a:r>
                    </a:p>
                  </a:txBody>
                  <a:tcPr/>
                </a:tc>
                <a:tc>
                  <a:txBody>
                    <a:bodyPr/>
                    <a:lstStyle/>
                    <a:p>
                      <a:pPr lvl="0" indent="0" marL="0">
                        <a:buNone/>
                      </a:pPr>
                      <a:r>
                        <a:rPr/>
                        <a:t>Reason</a:t>
                      </a:r>
                    </a:p>
                  </a:txBody>
                  <a:tcPr/>
                </a:tc>
              </a:tr>
              <a:tr h="0">
                <a:tc>
                  <a:txBody>
                    <a:bodyPr/>
                    <a:lstStyle/>
                    <a:p>
                      <a:pPr lvl="0" indent="0" marL="0">
                        <a:buNone/>
                      </a:pPr>
                      <a:r>
                        <a:rPr/>
                        <a:t>Python + FastAPI</a:t>
                      </a:r>
                    </a:p>
                  </a:txBody>
                </a:tc>
                <a:tc>
                  <a:txBody>
                    <a:bodyPr/>
                    <a:lstStyle/>
                    <a:p>
                      <a:pPr lvl="0" indent="0" marL="0">
                        <a:buNone/>
                      </a:pPr>
                      <a:r>
                        <a:rPr/>
                        <a:t>MERN / Express</a:t>
                      </a:r>
                    </a:p>
                  </a:txBody>
                </a:tc>
                <a:tc>
                  <a:txBody>
                    <a:bodyPr/>
                    <a:lstStyle/>
                    <a:p>
                      <a:pPr lvl="0" indent="0" marL="0">
                        <a:buNone/>
                      </a:pPr>
                      <a:r>
                        <a:rPr/>
                        <a:t>The hard problem is vision, and that is all Python</a:t>
                      </a:r>
                    </a:p>
                  </a:txBody>
                </a:tc>
              </a:tr>
              <a:tr h="0">
                <a:tc>
                  <a:txBody>
                    <a:bodyPr/>
                    <a:lstStyle/>
                    <a:p>
                      <a:pPr lvl="0" indent="0" marL="0">
                        <a:buNone/>
                      </a:pPr>
                      <a:r>
                        <a:rPr/>
                        <a:t>React 18 + Vite</a:t>
                      </a:r>
                    </a:p>
                  </a:txBody>
                </a:tc>
                <a:tc>
                  <a:txBody>
                    <a:bodyPr/>
                    <a:lstStyle/>
                    <a:p>
                      <a:pPr lvl="0" indent="0" marL="0">
                        <a:buNone/>
                      </a:pPr>
                      <a:r>
                        <a:rPr/>
                        <a:t>Next.js</a:t>
                      </a:r>
                    </a:p>
                  </a:txBody>
                </a:tc>
                <a:tc>
                  <a:txBody>
                    <a:bodyPr/>
                    <a:lstStyle/>
                    <a:p>
                      <a:pPr lvl="0" indent="0" marL="0">
                        <a:buNone/>
                      </a:pPr>
                      <a:r>
                        <a:rPr/>
                        <a:t>Dashboard with no SEO, no router, heavy client media</a:t>
                      </a:r>
                    </a:p>
                  </a:txBody>
                </a:tc>
              </a:tr>
              <a:tr h="0">
                <a:tc>
                  <a:txBody>
                    <a:bodyPr/>
                    <a:lstStyle/>
                    <a:p>
                      <a:pPr lvl="0" indent="0" marL="0">
                        <a:buNone/>
                      </a:pPr>
                      <a:r>
                        <a:rPr/>
                        <a:t>YOLO-World + YOLOv8n + CLIP</a:t>
                      </a:r>
                    </a:p>
                  </a:txBody>
                </a:tc>
                <a:tc>
                  <a:txBody>
                    <a:bodyPr/>
                    <a:lstStyle/>
                    <a:p>
                      <a:pPr lvl="0" indent="0" marL="0">
                        <a:buNone/>
                      </a:pPr>
                      <a:r>
                        <a:rPr/>
                        <a:t>A trained model</a:t>
                      </a:r>
                    </a:p>
                  </a:txBody>
                </a:tc>
                <a:tc>
                  <a:txBody>
                    <a:bodyPr/>
                    <a:lstStyle/>
                    <a:p>
                      <a:pPr lvl="0" indent="0" marL="0">
                        <a:buNone/>
                      </a:pPr>
                      <a:r>
                        <a:rPr/>
                        <a:t>No labelled demolition dataset exists yet</a:t>
                      </a:r>
                    </a:p>
                  </a:txBody>
                </a:tc>
              </a:tr>
              <a:tr h="0">
                <a:tc>
                  <a:txBody>
                    <a:bodyPr/>
                    <a:lstStyle/>
                    <a:p>
                      <a:pPr lvl="0" indent="0" marL="0">
                        <a:buNone/>
                      </a:pPr>
                      <a:r>
                        <a:rPr/>
                        <a:t>Postgres on Neon</a:t>
                      </a:r>
                    </a:p>
                  </a:txBody>
                </a:tc>
                <a:tc>
                  <a:txBody>
                    <a:bodyPr/>
                    <a:lstStyle/>
                    <a:p>
                      <a:pPr lvl="0" indent="0" marL="0">
                        <a:buNone/>
                      </a:pPr>
                      <a:r>
                        <a:rPr/>
                        <a:t>SQLite</a:t>
                      </a:r>
                    </a:p>
                  </a:txBody>
                </a:tc>
                <a:tc>
                  <a:txBody>
                    <a:bodyPr/>
                    <a:lstStyle/>
                    <a:p>
                      <a:pPr lvl="0" indent="0" marL="0">
                        <a:buNone/>
                      </a:pPr>
                      <a:r>
                        <a:rPr/>
                        <a:t>The container’s disk is discarded and several instances can run at once; SQLite would give each one a different marketplace</a:t>
                      </a:r>
                    </a:p>
                  </a:txBody>
                </a:tc>
              </a:tr>
              <a:tr h="0">
                <a:tc>
                  <a:txBody>
                    <a:bodyPr/>
                    <a:lstStyle/>
                    <a:p>
                      <a:pPr lvl="0" indent="0" marL="0">
                        <a:buNone/>
                      </a:pPr>
                      <a:r>
                        <a:rPr/>
                        <a:t>One JSONB row</a:t>
                      </a:r>
                    </a:p>
                  </a:txBody>
                </a:tc>
                <a:tc>
                  <a:txBody>
                    <a:bodyPr/>
                    <a:lstStyle/>
                    <a:p>
                      <a:pPr lvl="0" indent="0" marL="0">
                        <a:buNone/>
                      </a:pPr>
                      <a:r>
                        <a:rPr/>
                        <a:t>Normalised tables</a:t>
                      </a:r>
                    </a:p>
                  </a:txBody>
                </a:tc>
                <a:tc>
                  <a:txBody>
                    <a:bodyPr/>
                    <a:lstStyle/>
                    <a:p>
                      <a:pPr lvl="0" indent="0" marL="0">
                        <a:buNone/>
                      </a:pPr>
                      <a:r>
                        <a:rPr/>
                        <a:t>The shape changes weekly; split it when two writers matter</a:t>
                      </a:r>
                    </a:p>
                  </a:txBody>
                </a:tc>
              </a:tr>
              <a:tr h="0">
                <a:tc>
                  <a:txBody>
                    <a:bodyPr/>
                    <a:lstStyle/>
                    <a:p>
                      <a:pPr lvl="0" indent="0" marL="0">
                        <a:buNone/>
                      </a:pPr>
                      <a:r>
                        <a:rPr/>
                        <a:t>Vercel Container Runtime</a:t>
                      </a:r>
                    </a:p>
                  </a:txBody>
                </a:tc>
                <a:tc>
                  <a:txBody>
                    <a:bodyPr/>
                    <a:lstStyle/>
                    <a:p>
                      <a:pPr lvl="0" indent="0" marL="0">
                        <a:buNone/>
                      </a:pPr>
                      <a:r>
                        <a:rPr/>
                        <a:t>Plain serverless</a:t>
                      </a:r>
                    </a:p>
                  </a:txBody>
                </a:tc>
                <a:tc>
                  <a:txBody>
                    <a:bodyPr/>
                    <a:lstStyle/>
                    <a:p>
                      <a:pPr lvl="0" indent="0" marL="0">
                        <a:buNone/>
                      </a:pPr>
                      <a:r>
                        <a:rPr/>
                        <a:t>~2GB image with baked weights; a JS lambda cannot carry it</a:t>
                      </a:r>
                    </a:p>
                  </a:txBody>
                </a:tc>
              </a:tr>
              <a:tr h="0">
                <a:tc>
                  <a:txBody>
                    <a:bodyPr/>
                    <a:lstStyle/>
                    <a:p>
                      <a:pPr lvl="0" indent="0" marL="0">
                        <a:buNone/>
                      </a:pPr>
                      <a:r>
                        <a:rPr/>
                        <a:t>CesiumJS satellite</a:t>
                      </a:r>
                    </a:p>
                  </a:txBody>
                </a:tc>
                <a:tc>
                  <a:txBody>
                    <a:bodyPr/>
                    <a:lstStyle/>
                    <a:p>
                      <a:pPr lvl="0" indent="0" marL="0">
                        <a:buNone/>
                      </a:pPr>
                      <a:r>
                        <a:rPr/>
                        <a:t>Leaflet</a:t>
                      </a:r>
                    </a:p>
                  </a:txBody>
                </a:tc>
                <a:tc>
                  <a:txBody>
                    <a:bodyPr/>
                    <a:lstStyle/>
                    <a:p>
                      <a:pPr lvl="0" indent="0" marL="0">
                        <a:buNone/>
                      </a:pPr>
                      <a:r>
                        <a:rPr/>
                        <a:t>Satellite-first, with a terrain and 3D tiles path</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Implementation: codebase</a:t>
            </a:r>
          </a:p>
        </p:txBody>
      </p:sp>
      <p:sp>
        <p:nvSpPr>
          <p:cNvPr id="3" name="Content Placeholder 2"/>
          <p:cNvSpPr>
            <a:spLocks noGrp="1"/>
          </p:cNvSpPr>
          <p:nvPr>
            <p:ph idx="1"/>
          </p:nvPr>
        </p:nvSpPr>
        <p:spPr/>
        <p:txBody>
          <a:bodyPr/>
          <a:lstStyle/>
          <a:p>
            <a:pPr lvl="0" indent="0" marL="0">
              <a:buNone/>
            </a:pPr>
            <a:r>
              <a:rPr b="1"/>
              <a:t>One question per file.</a:t>
            </a:r>
          </a:p>
          <a:p>
            <a:pPr lvl="0" indent="0">
              <a:buNone/>
            </a:pPr>
            <a:r>
              <a:rPr>
                <a:latin typeface="Courier"/>
              </a:rPr>
              <a:t>backend/
  app/
    main.py           routes only
    schemas.py        request shapes
    core/catalog.py   16 materials: units, salvage prices, prompts, gates
    core/scoring.py   haversine, qty_for, match_score
    ai/vision.py      all model loading and the four passes
    storage/store.py  Postgres or data.json, plus photo bytes
    storage/images.py 1600px copy and 480px thumbnail
  tests/              50 tests, no model downloads
frontend/
  src/App.jsx         shell and five panels
  src/components/     LocationPicker, MeasureModal
  src/lib/            cesium, measureMath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Implementation: AI pipeline</a:t>
            </a:r>
          </a:p>
        </p:txBody>
      </p:sp>
      <p:sp>
        <p:nvSpPr>
          <p:cNvPr id="3" name="Content Placeholder 2"/>
          <p:cNvSpPr>
            <a:spLocks noGrp="1"/>
          </p:cNvSpPr>
          <p:nvPr>
            <p:ph idx="1"/>
          </p:nvPr>
        </p:nvSpPr>
        <p:spPr/>
        <p:txBody>
          <a:bodyPr/>
          <a:lstStyle/>
          <a:p>
            <a:pPr lvl="0" indent="0" marL="0">
              <a:buNone/>
            </a:pPr>
            <a:r>
              <a:rPr/>
              <a:t>Four passes run on each photo, then merge into one ranked list:</a:t>
            </a:r>
          </a:p>
          <a:p>
            <a:pPr lvl="0" indent="-342900" marL="342900">
              <a:buAutoNum type="arabicPeriod"/>
            </a:pPr>
            <a:r>
              <a:rPr/>
              <a:t>Downscale to 1280px once; the original is stored untouched</a:t>
            </a:r>
          </a:p>
          <a:p>
            <a:pPr lvl="0" indent="-342900" marL="342900">
              <a:buAutoNum type="arabicPeriod"/>
            </a:pPr>
            <a:r>
              <a:rPr b="1"/>
              <a:t>YOLO-World-m</a:t>
            </a:r>
            <a:r>
              <a:rPr/>
              <a:t> finds the 16 materials from descriptive prompts at confidence 0.12</a:t>
            </a:r>
          </a:p>
          <a:p>
            <a:pPr lvl="0" indent="-342900" marL="342900">
              <a:buAutoNum type="arabicPeriod"/>
            </a:pPr>
            <a:r>
              <a:rPr b="1"/>
              <a:t>YOLOv8n</a:t>
            </a:r>
            <a:r>
              <a:rPr/>
              <a:t> catches everyday objects and maps them (chair becomes Wood, bus becomes Metal)</a:t>
            </a:r>
          </a:p>
          <a:p>
            <a:pPr lvl="0" indent="-342900" marL="342900">
              <a:buAutoNum type="arabicPeriod"/>
            </a:pPr>
            <a:r>
              <a:rPr b="1"/>
              <a:t>Colour pass</a:t>
            </a:r>
            <a:r>
              <a:rPr/>
              <a:t>, numpy only, picks up bulk piles the boxes miss</a:t>
            </a:r>
          </a:p>
          <a:p>
            <a:pPr lvl="0" indent="-342900" marL="342900">
              <a:buAutoNum type="arabicPeriod"/>
            </a:pPr>
            <a:r>
              <a:rPr b="1"/>
              <a:t>CLIP</a:t>
            </a:r>
            <a:r>
              <a:rPr/>
              <a:t> scores weak boxes and the whole frame against a 0.60 gate</a:t>
            </a:r>
          </a:p>
          <a:p>
            <a:pPr lvl="0" indent="0" marL="0">
              <a:buNone/>
            </a:pPr>
            <a:r>
              <a:rPr/>
              <a:t>Merge, drop household hits, fall back to a labelled guess, normalise shares to 100%.</a:t>
            </a:r>
          </a:p>
          <a:p>
            <a:pPr lvl="0" indent="0" marL="0">
              <a:buNone/>
            </a:pPr>
            <a:r>
              <a:rPr/>
              <a:t>A bedsheet photo produces no listing. A low-confidence result is labelled a guess. </a:t>
            </a:r>
            <a:r>
              <a:rPr>
                <a:latin typeface="Courier"/>
              </a:rPr>
              <a:t>?debug=1</a:t>
            </a:r>
            <a:r>
              <a:rPr/>
              <a:t> returns every stage.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Technical Implementation: quality</a:t>
            </a:r>
          </a:p>
        </p:txBody>
      </p:sp>
      <p:sp>
        <p:nvSpPr>
          <p:cNvPr id="3" name="Content Placeholder 2"/>
          <p:cNvSpPr>
            <a:spLocks noGrp="1"/>
          </p:cNvSpPr>
          <p:nvPr>
            <p:ph idx="1"/>
          </p:nvPr>
        </p:nvSpPr>
        <p:spPr/>
        <p:txBody>
          <a:bodyPr/>
          <a:lstStyle/>
          <a:p>
            <a:pPr lvl="0"/>
            <a:r>
              <a:rPr b="1"/>
              <a:t>50 tests</a:t>
            </a:r>
            <a:r>
              <a:rPr/>
              <a:t>, stdlib </a:t>
            </a:r>
            <a:r>
              <a:rPr>
                <a:latin typeface="Courier"/>
              </a:rPr>
              <a:t>unittest</a:t>
            </a:r>
            <a:r>
              <a:rPr/>
              <a:t>, models stubbed, under a second with no weights downloaded</a:t>
            </a:r>
          </a:p>
          <a:p>
            <a:pPr lvl="0"/>
            <a:r>
              <a:rPr/>
              <a:t>Quantities come from measured coverage through </a:t>
            </a:r>
            <a:r>
              <a:rPr>
                <a:latin typeface="Courier"/>
              </a:rPr>
              <a:t>qty_for</a:t>
            </a:r>
            <a:r>
              <a:rPr/>
              <a:t>; </a:t>
            </a:r>
            <a:r>
              <a:rPr>
                <a:latin typeface="Courier"/>
              </a:rPr>
              <a:t>random</a:t>
            </a:r>
            <a:r>
              <a:rPr/>
              <a:t> never touches them</a:t>
            </a:r>
          </a:p>
          <a:p>
            <a:pPr lvl="0"/>
            <a:r>
              <a:rPr/>
              <a:t>Match score: material 40, quantity 25, distance 20 (zero past 50 km), condition 15</a:t>
            </a:r>
          </a:p>
          <a:p>
            <a:pPr lvl="0"/>
            <a:r>
              <a:rPr/>
              <a:t>The photo ruler uses a known object (brick, tile, sheet) as the scale, because a browser cannot reach LiDAR</a:t>
            </a:r>
          </a:p>
          <a:p>
            <a:pPr lvl="0"/>
            <a:r>
              <a:rPr/>
              <a:t>Location is read from the device instead of assumed, and a photo’s GPS tag is adopted only within 25 km of where the user is</a:t>
            </a:r>
          </a:p>
          <a:p>
            <a:pPr lvl="0"/>
            <a:r>
              <a:rPr/>
              <a:t>Removing a listing takes two taps and cleans up its photos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User Interface: shell</a:t>
            </a:r>
          </a:p>
        </p:txBody>
      </p:sp>
      <p:sp>
        <p:nvSpPr>
          <p:cNvPr id="3" name="Content Placeholder 2"/>
          <p:cNvSpPr>
            <a:spLocks noGrp="1"/>
          </p:cNvSpPr>
          <p:nvPr>
            <p:ph idx="1"/>
          </p:nvPr>
        </p:nvSpPr>
        <p:spPr/>
        <p:txBody>
          <a:bodyPr/>
          <a:lstStyle/>
          <a:p>
            <a:pPr lvl="0" indent="0" marL="0">
              <a:buNone/>
            </a:pPr>
            <a:r>
              <a:rPr/>
              <a:t>Five panels in one app:</a:t>
            </a:r>
          </a:p>
          <a:p>
            <a:pPr lvl="0"/>
            <a:r>
              <a:rPr b="1"/>
              <a:t>Upload</a:t>
            </a:r>
            <a:r>
              <a:rPr/>
              <a:t> — dropzone or camera, auto-analyse, editable detections, publish</a:t>
            </a:r>
          </a:p>
          <a:p>
            <a:pPr lvl="0"/>
            <a:r>
              <a:rPr b="1"/>
              <a:t>Marketplace</a:t>
            </a:r>
            <a:r>
              <a:rPr/>
              <a:t> — filters, satellite globe with pins, request, remove</a:t>
            </a:r>
          </a:p>
          <a:p>
            <a:pPr lvl="0"/>
            <a:r>
              <a:rPr b="1"/>
              <a:t>Smart Match</a:t>
            </a:r>
            <a:r>
              <a:rPr/>
              <a:t> — ranked rows with score dials</a:t>
            </a:r>
          </a:p>
          <a:p>
            <a:pPr lvl="0"/>
            <a:r>
              <a:rPr b="1"/>
              <a:t>Requests</a:t>
            </a:r>
            <a:r>
              <a:rPr/>
              <a:t> — accept or decline</a:t>
            </a:r>
          </a:p>
          <a:p>
            <a:pPr lvl="0"/>
            <a:r>
              <a:rPr b="1"/>
              <a:t>Impact</a:t>
            </a:r>
            <a:r>
              <a:rPr/>
              <a:t> — four cards showing the maths</a:t>
            </a:r>
          </a:p>
          <a:p>
            <a:pPr lvl="0" indent="0" marL="0">
              <a:buNone/>
            </a:pPr>
            <a:r>
              <a:rPr/>
              <a:t>Desktop gets a sidebar above 900px; mobile gets a brand bar and bottom tabs.</a:t>
            </a:r>
          </a:p>
          <a:p>
            <a:pPr lvl="0" indent="0" marL="0">
              <a:buNone/>
            </a:pPr>
            <a:r>
              <a:rPr/>
              <a:t>Concrete and iron palette, flat with no shadows, motion disabled under </a:t>
            </a:r>
            <a:r>
              <a:rPr>
                <a:latin typeface="Courier"/>
              </a:rPr>
              <a:t>prefers-reduced-motion</a:t>
            </a:r>
            <a:r>
              <a:rPr/>
              <a:t>, skip link and tab roles, and </a:t>
            </a:r>
            <a:r>
              <a:rPr>
                <a:latin typeface="Courier"/>
              </a:rPr>
              <a:t>alert()</a:t>
            </a:r>
            <a:r>
              <a:rPr/>
              <a:t> replaced by inline status regions.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User Interface: location and measuring</a:t>
            </a:r>
          </a:p>
        </p:txBody>
      </p:sp>
      <p:sp>
        <p:nvSpPr>
          <p:cNvPr id="3" name="Content Placeholder 2"/>
          <p:cNvSpPr>
            <a:spLocks noGrp="1"/>
          </p:cNvSpPr>
          <p:nvPr>
            <p:ph idx="1"/>
          </p:nvPr>
        </p:nvSpPr>
        <p:spPr/>
        <p:txBody>
          <a:bodyPr/>
          <a:lstStyle/>
          <a:p>
            <a:pPr lvl="0" indent="0" marL="0">
              <a:buNone/>
            </a:pPr>
            <a:r>
              <a:rPr b="1"/>
              <a:t>Setting a point takes one of five inputs, none of them typed coordinates:</a:t>
            </a:r>
          </a:p>
          <a:p>
            <a:pPr lvl="0"/>
            <a:r>
              <a:rPr/>
              <a:t>address search (HERE, then Nominatim fallback)</a:t>
            </a:r>
          </a:p>
          <a:p>
            <a:pPr lvl="0"/>
            <a:r>
              <a:rPr/>
              <a:t>area presets</a:t>
            </a:r>
          </a:p>
          <a:p>
            <a:pPr lvl="0"/>
            <a:r>
              <a:rPr/>
              <a:t>device GPS</a:t>
            </a:r>
          </a:p>
          <a:p>
            <a:pPr lvl="0"/>
            <a:r>
              <a:rPr/>
              <a:t>a tap on the globe</a:t>
            </a:r>
          </a:p>
          <a:p>
            <a:pPr lvl="0"/>
            <a:r>
              <a:rPr/>
              <a:t>a dragged pin</a:t>
            </a:r>
          </a:p>
          <a:p>
            <a:pPr lvl="0" indent="0" marL="0">
              <a:buNone/>
            </a:pPr>
            <a:r>
              <a:rPr/>
              <a:t>Every move reverse-geocodes into a human address and labels where the point came from. Search is biased toward that point rather than clamped to a city. Globes start where the device is, or show the whole globe if permission is refused.</a:t>
            </a:r>
          </a:p>
          <a:p>
            <a:pPr lvl="0" indent="0" marL="0">
              <a:buNone/>
            </a:pPr>
            <a:r>
              <a:rPr b="1"/>
              <a:t>On the photo:</a:t>
            </a:r>
            <a:r>
              <a:rPr/>
              <a:t> set a known object, draw the line, get millimetres. Both ends drag and the number follows the finger. A custom reference accepts mm, cm or inch, and a zero reference is refused with a reason instead of producing a useless scale.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Results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Check</a:t>
                      </a:r>
                    </a:p>
                  </a:txBody>
                  <a:tcPr/>
                </a:tc>
                <a:tc>
                  <a:txBody>
                    <a:bodyPr/>
                    <a:lstStyle/>
                    <a:p>
                      <a:pPr lvl="0" indent="0" marL="0">
                        <a:buNone/>
                      </a:pPr>
                      <a:r>
                        <a:rPr/>
                        <a:t>Result</a:t>
                      </a:r>
                    </a:p>
                  </a:txBody>
                  <a:tcPr/>
                </a:tc>
              </a:tr>
              <a:tr h="0">
                <a:tc>
                  <a:txBody>
                    <a:bodyPr/>
                    <a:lstStyle/>
                    <a:p>
                      <a:pPr lvl="0" indent="0" marL="0">
                        <a:buNone/>
                      </a:pPr>
                      <a:r>
                        <a:rPr/>
                        <a:t>Live frontend</a:t>
                      </a:r>
                    </a:p>
                  </a:txBody>
                </a:tc>
                <a:tc>
                  <a:txBody>
                    <a:bodyPr/>
                    <a:lstStyle/>
                    <a:p>
                      <a:pPr lvl="0" indent="0" marL="0">
                        <a:buNone/>
                      </a:pPr>
                      <a:r>
                        <a:rPr/>
                        <a:t>https://fullstackproject-app.vercel.app</a:t>
                      </a:r>
                    </a:p>
                  </a:txBody>
                </a:tc>
              </a:tr>
              <a:tr h="0">
                <a:tc>
                  <a:txBody>
                    <a:bodyPr/>
                    <a:lstStyle/>
                    <a:p>
                      <a:pPr lvl="0" indent="0" marL="0">
                        <a:buNone/>
                      </a:pPr>
                      <a:r>
                        <a:rPr/>
                        <a:t>Backend</a:t>
                      </a:r>
                    </a:p>
                  </a:txBody>
                </a:tc>
                <a:tc>
                  <a:txBody>
                    <a:bodyPr/>
                    <a:lstStyle/>
                    <a:p>
                      <a:pPr lvl="0" indent="0" marL="0">
                        <a:buNone/>
                      </a:pPr>
                      <a:r>
                        <a:rPr/>
                        <a:t>Vercel container, region </a:t>
                      </a:r>
                      <a:r>
                        <a:rPr>
                          <a:latin typeface="Courier"/>
                        </a:rPr>
                        <a:t>sin1</a:t>
                      </a:r>
                      <a:r>
                        <a:rPr/>
                        <a:t>, alias verified</a:t>
                      </a:r>
                    </a:p>
                  </a:txBody>
                </a:tc>
              </a:tr>
              <a:tr h="0">
                <a:tc>
                  <a:txBody>
                    <a:bodyPr/>
                    <a:lstStyle/>
                    <a:p>
                      <a:pPr lvl="0" indent="0" marL="0">
                        <a:buNone/>
                      </a:pPr>
                      <a:r>
                        <a:rPr/>
                        <a:t>Database</a:t>
                      </a:r>
                    </a:p>
                  </a:txBody>
                </a:tc>
                <a:tc>
                  <a:txBody>
                    <a:bodyPr/>
                    <a:lstStyle/>
                    <a:p>
                      <a:pPr lvl="0" indent="0" marL="0">
                        <a:buNone/>
                      </a:pPr>
                      <a:r>
                        <a:rPr/>
                        <a:t>Neon Postgres, Singapore, </a:t>
                      </a:r>
                      <a:r>
                        <a:rPr>
                          <a:latin typeface="Courier"/>
                        </a:rPr>
                        <a:t>"store": "postgres"</a:t>
                      </a:r>
                    </a:p>
                  </a:txBody>
                </a:tc>
              </a:tr>
              <a:tr h="0">
                <a:tc>
                  <a:txBody>
                    <a:bodyPr/>
                    <a:lstStyle/>
                    <a:p>
                      <a:pPr lvl="0" indent="0" marL="0">
                        <a:buNone/>
                      </a:pPr>
                      <a:r>
                        <a:rPr/>
                        <a:t>Materials served</a:t>
                      </a:r>
                    </a:p>
                  </a:txBody>
                </a:tc>
                <a:tc>
                  <a:txBody>
                    <a:bodyPr/>
                    <a:lstStyle/>
                    <a:p>
                      <a:pPr lvl="0" indent="0" marL="0">
                        <a:buNone/>
                      </a:pPr>
                      <a:r>
                        <a:rPr/>
                        <a:t>16</a:t>
                      </a:r>
                    </a:p>
                  </a:txBody>
                </a:tc>
              </a:tr>
              <a:tr h="0">
                <a:tc>
                  <a:txBody>
                    <a:bodyPr/>
                    <a:lstStyle/>
                    <a:p>
                      <a:pPr lvl="0" indent="0" marL="0">
                        <a:buNone/>
                      </a:pPr>
                      <a:r>
                        <a:rPr/>
                        <a:t>Test suite</a:t>
                      </a:r>
                    </a:p>
                  </a:txBody>
                </a:tc>
                <a:tc>
                  <a:txBody>
                    <a:bodyPr/>
                    <a:lstStyle/>
                    <a:p>
                      <a:pPr lvl="0" indent="0" marL="0">
                        <a:buNone/>
                      </a:pPr>
                      <a:r>
                        <a:rPr/>
                        <a:t>50 of 50 passing</a:t>
                      </a:r>
                    </a:p>
                  </a:txBody>
                </a:tc>
              </a:tr>
              <a:tr h="0">
                <a:tc>
                  <a:txBody>
                    <a:bodyPr/>
                    <a:lstStyle/>
                    <a:p>
                      <a:pPr lvl="0" indent="0" marL="0">
                        <a:buNone/>
                      </a:pPr>
                      <a:r>
                        <a:rPr/>
                        <a:t>Demo path</a:t>
                      </a:r>
                    </a:p>
                  </a:txBody>
                </a:tc>
                <a:tc>
                  <a:txBody>
                    <a:bodyPr/>
                    <a:lstStyle/>
                    <a:p>
                      <a:pPr lvl="0" indent="0" marL="0">
                        <a:buNone/>
                      </a:pPr>
                      <a:r>
                        <a:rPr/>
                        <a:t>Upload a photo, get priced detections, publish</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Limitations and next steps</a:t>
            </a:r>
          </a:p>
        </p:txBody>
      </p:sp>
      <p:sp>
        <p:nvSpPr>
          <p:cNvPr id="3" name="Content Placeholder 2"/>
          <p:cNvSpPr>
            <a:spLocks noGrp="1"/>
          </p:cNvSpPr>
          <p:nvPr>
            <p:ph idx="1"/>
          </p:nvPr>
        </p:nvSpPr>
        <p:spPr/>
        <p:txBody>
          <a:bodyPr/>
          <a:lstStyle/>
          <a:p>
            <a:pPr lvl="0" indent="0" marL="0">
              <a:buNone/>
            </a:pPr>
            <a:r>
              <a:rPr b="1"/>
              <a:t>Known now</a:t>
            </a:r>
          </a:p>
          <a:p>
            <a:pPr lvl="0"/>
            <a:r>
              <a:rPr/>
              <a:t>No auth: a request carries a typed name and nothing else</a:t>
            </a:r>
          </a:p>
          <a:p>
            <a:pPr lvl="0"/>
            <a:r>
              <a:rPr/>
              <a:t>One JSONB row, so a concurrent write can overwrite another</a:t>
            </a:r>
          </a:p>
          <a:p>
            <a:pPr lvl="0"/>
            <a:r>
              <a:rPr/>
              <a:t>CO2 figures are estimates rather than LCA data</a:t>
            </a:r>
          </a:p>
          <a:p>
            <a:pPr lvl="0"/>
            <a:r>
              <a:rPr/>
              <a:t>No AR measuring, since a browser cannot reach LiDAR</a:t>
            </a:r>
          </a:p>
          <a:p>
            <a:pPr lvl="0"/>
            <a:r>
              <a:rPr/>
              <a:t>A line drawn across an oblique surface reads short, because there is no perspective correction</a:t>
            </a:r>
          </a:p>
          <a:p>
            <a:pPr lvl="0" indent="0" marL="0">
              <a:buNone/>
            </a:pPr>
            <a:r>
              <a:rPr b="1"/>
              <a:t>Next</a:t>
            </a:r>
          </a:p>
          <a:p>
            <a:pPr lvl="0"/>
            <a:r>
              <a:rPr/>
              <a:t>Real tables and authentication</a:t>
            </a:r>
          </a:p>
          <a:p>
            <a:pPr lvl="0"/>
            <a:r>
              <a:rPr/>
              <a:t>Object storage once photo volume grows</a:t>
            </a:r>
          </a:p>
          <a:p>
            <a:pPr lvl="0"/>
            <a:r>
              <a:rPr/>
              <a:t>A trained segmentation model once </a:t>
            </a:r>
            <a:r>
              <a:rPr>
                <a:latin typeface="Courier"/>
              </a:rPr>
              <a:t>uploads/</a:t>
            </a:r>
            <a:r>
              <a:rPr/>
              <a:t> holds labelled site photos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Timeline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Date</a:t>
                      </a:r>
                    </a:p>
                  </a:txBody>
                  <a:tcPr/>
                </a:tc>
                <a:tc>
                  <a:txBody>
                    <a:bodyPr/>
                    <a:lstStyle/>
                    <a:p>
                      <a:pPr lvl="0" indent="0" marL="0">
                        <a:buNone/>
                      </a:pPr>
                      <a:r>
                        <a:rPr/>
                        <a:t>Milestone</a:t>
                      </a:r>
                    </a:p>
                  </a:txBody>
                  <a:tcPr/>
                </a:tc>
              </a:tr>
              <a:tr h="0">
                <a:tc>
                  <a:txBody>
                    <a:bodyPr/>
                    <a:lstStyle/>
                    <a:p>
                      <a:pPr lvl="0" indent="0" marL="0">
                        <a:buNone/>
                      </a:pPr>
                      <a:r>
                        <a:rPr/>
                        <a:t>27 Sep</a:t>
                      </a:r>
                    </a:p>
                  </a:txBody>
                </a:tc>
                <a:tc>
                  <a:txBody>
                    <a:bodyPr/>
                    <a:lstStyle/>
                    <a:p>
                      <a:pPr lvl="0" indent="0" marL="0">
                        <a:buNone/>
                      </a:pPr>
                      <a:r>
                        <a:rPr/>
                        <a:t>Scaffold: React, FastAPI, mocked AI</a:t>
                      </a:r>
                    </a:p>
                  </a:txBody>
                </a:tc>
              </a:tr>
              <a:tr h="0">
                <a:tc>
                  <a:txBody>
                    <a:bodyPr/>
                    <a:lstStyle/>
                    <a:p>
                      <a:pPr lvl="0" indent="0" marL="0">
                        <a:buNone/>
                      </a:pPr>
                      <a:r>
                        <a:rPr/>
                        <a:t>28 Sep</a:t>
                      </a:r>
                    </a:p>
                  </a:txBody>
                </a:tc>
                <a:tc>
                  <a:txBody>
                    <a:bodyPr/>
                    <a:lstStyle/>
                    <a:p>
                      <a:pPr lvl="0" indent="0" marL="0">
                        <a:buNone/>
                      </a:pPr>
                      <a:r>
                        <a:rPr/>
                        <a:t>YOLOv8n, colour pass, Cesium satellite, mobile shell</a:t>
                      </a:r>
                    </a:p>
                  </a:txBody>
                </a:tc>
              </a:tr>
              <a:tr h="0">
                <a:tc>
                  <a:txBody>
                    <a:bodyPr/>
                    <a:lstStyle/>
                    <a:p>
                      <a:pPr lvl="0" indent="0" marL="0">
                        <a:buNone/>
                      </a:pPr>
                      <a:r>
                        <a:rPr/>
                        <a:t>29 Sep</a:t>
                      </a:r>
                    </a:p>
                  </a:txBody>
                </a:tc>
                <a:tc>
                  <a:txBody>
                    <a:bodyPr/>
                    <a:lstStyle/>
                    <a:p>
                      <a:pPr lvl="0" indent="0" marL="0">
                        <a:buNone/>
                      </a:pPr>
                      <a:r>
                        <a:rPr/>
                        <a:t>YOLO-World, CLIP gate, 16 materials, debug flag</a:t>
                      </a:r>
                    </a:p>
                  </a:txBody>
                </a:tc>
              </a:tr>
              <a:tr h="0">
                <a:tc>
                  <a:txBody>
                    <a:bodyPr/>
                    <a:lstStyle/>
                    <a:p>
                      <a:pPr lvl="0" indent="0" marL="0">
                        <a:buNone/>
                      </a:pPr>
                      <a:r>
                        <a:rPr/>
                        <a:t>30 Sep</a:t>
                      </a:r>
                    </a:p>
                  </a:txBody>
                </a:tc>
                <a:tc>
                  <a:txBody>
                    <a:bodyPr/>
                    <a:lstStyle/>
                    <a:p>
                      <a:pPr lvl="0" indent="0" marL="0">
                        <a:buNone/>
                      </a:pPr>
                      <a:r>
                        <a:rPr/>
                        <a:t>Neon Postgres, public MIT repository</a:t>
                      </a:r>
                    </a:p>
                  </a:txBody>
                </a:tc>
              </a:tr>
              <a:tr h="0">
                <a:tc>
                  <a:txBody>
                    <a:bodyPr/>
                    <a:lstStyle/>
                    <a:p>
                      <a:pPr lvl="0" indent="0" marL="0">
                        <a:buNone/>
                      </a:pPr>
                      <a:r>
                        <a:rPr/>
                        <a:t>2 Oct</a:t>
                      </a:r>
                    </a:p>
                  </a:txBody>
                </a:tc>
                <a:tc>
                  <a:txBody>
                    <a:bodyPr/>
                    <a:lstStyle/>
                    <a:p>
                      <a:pPr lvl="0" indent="0" marL="0">
                        <a:buNone/>
                      </a:pPr>
                      <a:r>
                        <a:rPr/>
                        <a:t>Photo ruler for real quantities, salvage pricing</a:t>
                      </a:r>
                    </a:p>
                  </a:txBody>
                </a:tc>
              </a:tr>
              <a:tr h="0">
                <a:tc>
                  <a:txBody>
                    <a:bodyPr/>
                    <a:lstStyle/>
                    <a:p>
                      <a:pPr lvl="0" indent="0" marL="0">
                        <a:buNone/>
                      </a:pPr>
                      <a:r>
                        <a:rPr/>
                        <a:t>31 Oct</a:t>
                      </a:r>
                    </a:p>
                  </a:txBody>
                </a:tc>
                <a:tc>
                  <a:txBody>
                    <a:bodyPr/>
                    <a:lstStyle/>
                    <a:p>
                      <a:pPr lvl="0" indent="0" marL="0">
                        <a:buNone/>
                      </a:pPr>
                      <a:r>
                        <a:rPr/>
                        <a:t>Package restructure, docs consolidated, deployed demo</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
        <p:nvSpPr>
          <p:cNvPr id="3" name="Content Placeholder 2"/>
          <p:cNvSpPr>
            <a:spLocks noGrp="1"/>
          </p:cNvSpPr>
          <p:nvPr>
            <p:ph idx="1"/>
          </p:nvPr>
        </p:nvSpPr>
        <p:spPr/>
        <p:txBody>
          <a:bodyPr/>
          <a:lstStyle/>
          <a:p>
            <a:pPr lvl="0" indent="0" marL="0">
              <a:buNone/>
            </a:pPr>
            <a:r>
              <a:rPr b="1"/>
              <a:t>Live demo:</a:t>
            </a:r>
            <a:r>
              <a:rPr/>
              <a:t> https://fullstackproject-app.vercel.app</a:t>
            </a:r>
          </a:p>
          <a:p>
            <a:pPr lvl="0" indent="0" marL="0">
              <a:buNone/>
            </a:pPr>
            <a:r>
              <a:rPr b="1"/>
              <a:t>Repository:</a:t>
            </a:r>
            <a:r>
              <a:rPr/>
              <a:t> https://github.com/Aayush-Ate/urbanmine (MIT)</a:t>
            </a:r>
          </a:p>
          <a:p>
            <a:pPr lvl="0" indent="0" marL="0">
              <a:buNone/>
            </a:pPr>
            <a:r>
              <a:rPr/>
              <a:t>Questions?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Construction Material Recovery &amp; Marketplace</dc:title>
  <dc:creator/>
  <cp:keywords/>
  <dcterms:created xsi:type="dcterms:W3CDTF">2026-10-31T07:48:43Z</dcterms:created>
  <dcterms:modified xsi:type="dcterms:W3CDTF">2026-10-31T07:48:43Z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Review 1 · 2 November 2026</vt:lpwstr>
  </property>
  <property fmtid="{D5CDD505-2E9C-101B-9397-08002B2CF9AE}" pid="3" name="subtitle">
    <vt:lpwstr>UrbanMine · SDG 12, Responsible Consumption and Production</vt:lpwstr>
  </property>
</Properties>
</file>